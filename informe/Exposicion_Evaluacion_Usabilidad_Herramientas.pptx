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9496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82296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B2777"/>
                </a:solidFill>
                <a:latin typeface="Calibri"/>
              </a:defRPr>
            </a:pPr>
            <a:r>
              <a:t>INSTITUTO SUPERIOR UNIVERSITARIO JAPÓN</a:t>
            </a:r>
          </a:p>
          <a:p>
            <a:pPr>
              <a:spcAft>
                <a:spcPts val="2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Carrera de Tecnología Superior en Desarrollo de Software</a:t>
            </a:r>
          </a:p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  <a:p>
            <a:pPr>
              <a:spcAft>
                <a:spcPts val="40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Auditoría de Comportamiento (Hotjar / Crazy Egg) e Inspección Automatizada (Google Lighthouse / WAVE) en el Sitio Comercial Lush Nails Spa</a:t>
            </a:r>
          </a:p>
          <a:p>
            <a:pPr>
              <a:spcAft>
                <a:spcPts val="600"/>
              </a:spcAft>
              <a:defRPr sz="1200" b="1">
                <a:solidFill>
                  <a:srgbClr val="DB2777"/>
                </a:solidFill>
              </a:defRPr>
            </a:pPr>
            <a:r>
              <a:t>Trabajo Autónomo - Exposición Individual para Taller 4 U3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Docente: Msc. Graciela Trujillo   |   Nivel: 4.° Semestre   |   Año Lectivo: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Introducción y Objetivos de la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Contexto y Relevancia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Enfoque en Usabilidad y UX:</a:t>
            </a:r>
            <a:r>
              <a:rPr sz="1200">
                <a:solidFill>
                  <a:srgbClr val="64748B"/>
                </a:solidFill>
              </a:rPr>
              <a:t> La evaluación se centra estrictamente en la interfaz de usuario, interacción visual y accesibilidad frontend.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Limitación de Alcance:</a:t>
            </a:r>
            <a:r>
              <a:rPr sz="1200">
                <a:solidFill>
                  <a:srgbClr val="64748B"/>
                </a:solidFill>
              </a:rPr>
              <a:t> No involucra la arquitectura backend ni bases de datos (correspondientes a otra asignatura).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Problemática Común:</a:t>
            </a:r>
            <a:r>
              <a:rPr sz="1200">
                <a:solidFill>
                  <a:srgbClr val="64748B"/>
                </a:solidFill>
              </a:rPr>
              <a:t> Sitios comerciales con alta calidad visual suelen descuidar la jerarquía de interacción, generando fricción y abandono.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F172A"/>
                </a:solidFill>
              </a:rPr>
              <a:t>• Alineación Académica:</a:t>
            </a:r>
            <a:r>
              <a:rPr sz="1200">
                <a:solidFill>
                  <a:srgbClr val="64748B"/>
                </a:solidFill>
              </a:rPr>
              <a:t> Aplicación directa de los métodos expuestos en la Clase 13 sobre herramientas analíticas y auditorías digitales.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B2777"/>
                </a:solidFill>
              </a:defRPr>
            </a:pPr>
            <a:r>
              <a:t>Objetivos del Estudio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Objetivo General:</a:t>
            </a:r>
            <a:r>
              <a:rPr sz="1200">
                <a:solidFill>
                  <a:srgbClr val="64748B"/>
                </a:solidFill>
              </a:rPr>
              <a:t> Evaluar la usabilidad y experiencia de usuario del portal comercial Lush Nails Spa empleando herramientas analíticas de comportamiento y software de auditoría técnica.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Analizar Interacción Real:</a:t>
            </a:r>
            <a:r>
              <a:rPr sz="1200">
                <a:solidFill>
                  <a:srgbClr val="64748B"/>
                </a:solidFill>
              </a:rPr>
              <a:t> Cuantificar la distribución de clics, zonas de calor, profundidad de scroll y tiempo de permanencia.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Detectar Barreras de Navegación:</a:t>
            </a:r>
            <a:r>
              <a:rPr sz="1200">
                <a:solidFill>
                  <a:srgbClr val="64748B"/>
                </a:solidFill>
              </a:rPr>
              <a:t> Identificar puntos de frustración, sobrecarga cognitiva y enlaces erráticos.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Evaluar Accesibilidad y Core Web Vitals:</a:t>
            </a:r>
            <a:r>
              <a:rPr sz="1200">
                <a:solidFill>
                  <a:srgbClr val="64748B"/>
                </a:solidFill>
              </a:rPr>
              <a:t> Diagnosticar contraste de color, etiquetas de formulario y tiempos de renderizado.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✔ Proponer Mejoras Prácticas:</a:t>
            </a:r>
            <a:r>
              <a:rPr sz="1200">
                <a:solidFill>
                  <a:srgbClr val="64748B"/>
                </a:solidFill>
              </a:rPr>
              <a:t> Diseñar soluciones frontend de implementación inmediata para optimizar la conversión.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Descripción del Sitio Web Comercial Evaluado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DB2777"/>
                </a:solidFill>
              </a:defRPr>
            </a:pPr>
            <a:r>
              <a:t>Lush Nails Spa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Giro Comercial y Propuesta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Centro de estética integral especializado en manicure, pedicure, diseño acrílico, spa facial y masajes relajantes en Santo Domingo, Ecuador.</a:t>
            </a:r>
            <a:br/>
            <a:br/>
            <a:r>
              <a:t>Su modelo digital busca captar reservas de servicios, exhibir trabajos y orientar a clientes hacia sus 3 sucursales.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Público Objetivo:</a:t>
            </a:r>
            <a:br/>
            <a:r>
              <a:t>• Clientes recurrentes y nuevos.</a:t>
            </a:r>
            <a:br/>
            <a:r>
              <a:t>• Uso predominante en smartphones (78% tráfico móvil estimado).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C3AED"/>
                </a:solidFill>
              </a:defRPr>
            </a:pPr>
            <a:r>
              <a:t>Arquitectura Frontend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Single Page Application (SPA)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Desarrollada sobre React 19 con navegación basada en scroll continuo mediante hash anchors (#servicios, #reservar, #sucursales).</a:t>
            </a:r>
            <a:br/>
            <a:br/>
            <a:r>
              <a:t>Secciones principales integradas:</a:t>
            </a:r>
            <a:br/>
            <a:r>
              <a:t>1. Hero Banner promocional con CTA</a:t>
            </a:r>
            <a:br/>
            <a:r>
              <a:t>2. Catálogo de Servicios (Acordeón)</a:t>
            </a:r>
            <a:br/>
            <a:r>
              <a:t>3. Formulario interactivo de reserva</a:t>
            </a:r>
            <a:br/>
            <a:r>
              <a:t>4. Carrusel de testimonios</a:t>
            </a:r>
            <a:br/>
            <a:r>
              <a:t>5. Selector de sucursales con mapas</a:t>
            </a:r>
            <a:br/>
            <a:r>
              <a:t>6. Botones flotantes (WhatsApp/Tel).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Desafío de Usabilidad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Conversión vs. Fricción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El objetivo fundamental del sitio es agendar citas de forma rápida y sin confusiones.</a:t>
            </a:r>
            <a:br/>
            <a:br/>
            <a:r>
              <a:t>Sin embargo, la alta densidad de información en una sola página larga y la falta de jerarquía en botones de acción compiten con la meta principal del usuario, requiriendo validación mediante analítica digital.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Herramientas Digitales de Evaluación (PPT Clase 13)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DB2777"/>
                </a:solidFill>
              </a:defRPr>
            </a:pPr>
            <a:r>
              <a:t>Herramienta 1: Hotjar / Crazy Egg</a:t>
            </a:r>
          </a:p>
          <a:p>
            <a:pPr>
              <a:spcAft>
                <a:spcPts val="1400"/>
              </a:spcAft>
              <a:defRPr sz="1100" b="1">
                <a:solidFill>
                  <a:srgbClr val="0F172A"/>
                </a:solidFill>
              </a:defRPr>
            </a:pPr>
            <a:r>
              <a:t>Analítica de Comportamiento e Interacción Cualitativa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Mapas de Calor de Clics (Click Heatmaps):</a:t>
            </a:r>
            <a:r>
              <a:rPr sz="1100">
                <a:solidFill>
                  <a:srgbClr val="64748B"/>
                </a:solidFill>
              </a:rPr>
              <a:t> Mapean con precisión dónde hacen clic los usuarios y detectan 'clics de rabia' o elementos que parecen interactivos pero no lo son.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Mapas de Scroll (Scrollmaps):</a:t>
            </a:r>
            <a:r>
              <a:rPr sz="1100">
                <a:solidFill>
                  <a:srgbClr val="64748B"/>
                </a:solidFill>
              </a:rPr>
              <a:t> Muestran el porcentaje exacto de visitantes que descienden hasta cada sección crítica de la página.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Grabaciones de Sesión (Session Recordings):</a:t>
            </a:r>
            <a:r>
              <a:rPr sz="1100">
                <a:solidFill>
                  <a:srgbClr val="64748B"/>
                </a:solidFill>
              </a:rPr>
              <a:t> Registran la trayectoria del cursor, titubeos, movimientos erráticos y puntos de abandono.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Embudos de Conversión:</a:t>
            </a:r>
            <a:r>
              <a:rPr sz="1100">
                <a:solidFill>
                  <a:srgbClr val="64748B"/>
                </a:solidFill>
              </a:rPr>
              <a:t> Permiten identificar la tasa de deserción entre la visualización del servicio y el envío del formulario de cita.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7C3AED"/>
                </a:solidFill>
              </a:defRPr>
            </a:pPr>
            <a:r>
              <a:t>Herramienta 2: Google Lighthouse / WAVE</a:t>
            </a:r>
          </a:p>
          <a:p>
            <a:pPr>
              <a:spcAft>
                <a:spcPts val="1400"/>
              </a:spcAft>
              <a:defRPr sz="1100" b="1">
                <a:solidFill>
                  <a:srgbClr val="0F172A"/>
                </a:solidFill>
              </a:defRPr>
            </a:pPr>
            <a:r>
              <a:t>Auditoría Automatizada de Accesibilidad y Core Web Vitals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Auditoría de Accesibilidad (WCAG 2.1):</a:t>
            </a:r>
            <a:r>
              <a:rPr sz="1100">
                <a:solidFill>
                  <a:srgbClr val="64748B"/>
                </a:solidFill>
              </a:rPr>
              <a:t> Análisis de contraste cromático de texto frente a fondos claros/oscuros y validación de atributos ARIA.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Estructura de Formularios (WAVE):</a:t>
            </a:r>
            <a:r>
              <a:rPr sz="1100">
                <a:solidFill>
                  <a:srgbClr val="64748B"/>
                </a:solidFill>
              </a:rPr>
              <a:t> Detección de campos de entrada sin etiquetas &lt;label&gt; explícitas o con soporte exclusivo de placeholder.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Tiempos de Respuesta y Rendimiento:</a:t>
            </a:r>
            <a:r>
              <a:rPr sz="1100">
                <a:solidFill>
                  <a:srgbClr val="64748B"/>
                </a:solidFill>
              </a:rPr>
              <a:t> Medición de LCP (Largest Contentful Paint), TBT (Total Blocking Time) y CLS (Cumulative Layout Shift).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Buenas Prácticas e Interactividad:</a:t>
            </a:r>
            <a:r>
              <a:rPr sz="1100">
                <a:solidFill>
                  <a:srgbClr val="64748B"/>
                </a:solidFill>
              </a:rPr>
              <a:t> Inspección de scripts de terceros, dependencias síncronas de iframes pesados y elementos táctiles superpuestos.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Resultados con Hotjar: Comportamiento y Navegación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B2777"/>
                </a:solidFill>
              </a:defRPr>
            </a:pPr>
            <a:r>
              <a:t>62%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Clics en Hero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00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28%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Alcance de Scroll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34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Ítems Expandidos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5 Botones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Flotantes Móviles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698480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Interpretación del Comportamiento del Usuario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Fuga Temprana por Longitud de Página:</a:t>
            </a:r>
            <a:r>
              <a:rPr sz="1150">
                <a:solidFill>
                  <a:srgbClr val="64748B"/>
                </a:solidFill>
              </a:rPr>
              <a:t> Los usuarios que no convierten inmediatamente en el Hero navegan hacia Servicios, pero ante la longitud excesiva del catálogo abandonan antes de llegar a Reservas (tasa de deserción de scroll del 72%).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Frustración en Navegación por Acordeón:</a:t>
            </a:r>
            <a:r>
              <a:rPr sz="1150">
                <a:solidFill>
                  <a:srgbClr val="64748B"/>
                </a:solidFill>
              </a:rPr>
              <a:t> Los usuarios abren múltiples categorías (Manicure, Pedicure, Masajes) esperando comparar precios, pero al no colapsar automáticamente las anteriores, la página se alarga drásticamente dificultando volver a subir.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Clics Erráticos en Dispositivos Móviles:</a:t>
            </a:r>
            <a:r>
              <a:rPr sz="1150">
                <a:solidFill>
                  <a:srgbClr val="64748B"/>
                </a:solidFill>
              </a:rPr>
              <a:t> En pantallas de menos de 400px, los botones flotantes de WhatsApp, llamadas y regreso al inicio cubren parte del formulario de reservas, generando toques accidentales.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Resultados con Lighthouse y WAVE: Accesibilidad y Rendimiento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78 / 100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Rendimiento (Lighthouse)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00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81 / 100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Accesibilidad (WCAG 2.1)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3.4 : 1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Contraste Subtítulos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B2777"/>
                </a:solidFill>
              </a:defRPr>
            </a:pPr>
            <a:r>
              <a:t>3.2 seg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Largest Contentful Paint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698480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Diagnóstico Automatizado de Usabilidad Técnica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Inaccesibilidad de Formularios:</a:t>
            </a:r>
            <a:r>
              <a:rPr sz="1150">
                <a:solidFill>
                  <a:srgbClr val="64748B"/>
                </a:solidFill>
              </a:rPr>
              <a:t> WAVE identificó que los campos de Nombre, Teléfono y Fecha dependen exclusivamente de placeholders visuales sin etiquetas vinculadas mediante 'for/id', afectando a lectores de pantalla y autocompletado.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Legibilidad Afectada por Contraste Insuficiente:</a:t>
            </a:r>
            <a:r>
              <a:rPr sz="1150">
                <a:solidFill>
                  <a:srgbClr val="64748B"/>
                </a:solidFill>
              </a:rPr>
              <a:t> El color de los textos descriptivos (.section-subtitle en tonos rosa/gris claro) no alcanza la relación de luminancia requerida para usuarios con debilidad visual o bajo luz solar.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0F172A"/>
                </a:solidFill>
              </a:rPr>
              <a:t>• Bloqueo del Hilo Principal por Mapas:</a:t>
            </a:r>
            <a:r>
              <a:rPr sz="1150">
                <a:solidFill>
                  <a:srgbClr val="64748B"/>
                </a:solidFill>
              </a:rPr>
              <a:t> Las 3 pestañas de sucursales cargan simultáneamente scripts e iframes de Google Maps al iniciar la página, aumentando el tiempo hasta la interactividad (TBT).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Problemas Detectados y Por Qué Afectan la Usabilidad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F4444"/>
                </a:solidFill>
              </a:defRPr>
            </a:pPr>
            <a:r>
              <a:t>P1. Caída Brusca en Profundidad de Scroll (72%)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t>Severidad: ALTA   |   Herramienta: Hotjar Scrollmap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El usuario debe recorrer más de 2500px antes de hallar la agenda de citas. Al perder el botón flotante principal, se pierde el interés antes de completar la conversión deseada.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P2. Sobrecarga Cognitiva en Acordeón de Servicios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t>Severidad: MEDIA-ALTA   |   Herramienta: Grabaciones Hotjar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Permitir 34 ítems abiertos a la vez convierte la interfaz en un muro infinito de texto. Viola la heurística de reconocimiento frente a recuerdo y satura la memoria de trabajo.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7C3AED"/>
                </a:solidFill>
              </a:defRPr>
            </a:pPr>
            <a:r>
              <a:t>P3. Contraste Cromático Insuficiente (3.4:1)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t>Severidad: MEDIA   |   Herramienta: Lighthouse / WAVE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El texto de soporte y subtítulos no supera el umbral de 4.5:1 exigido por WCAG AA, provocando fatiga visual e ilegibilidad en pantallas móviles con brillo reducido.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P4. Carga Lenta de Mapas e Interactividad Demorada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t>Severidad: MEDIA   |   Herramienta: Lighthouse Performance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La carga prematura de 3 mapas de Google consume recursos de red móviles y congela transitoriamente la interfaz antes de que el usuario decida consultar la dirección física.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Propuestas Concretas de Mejora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B2777"/>
                </a:solidFill>
              </a:defRPr>
            </a:pPr>
            <a:r>
              <a:t>Solución 1: Acordeón Exclusivo y Menú Rápido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Acordeón Mono-Panel:</a:t>
            </a:r>
            <a:br/>
            <a:r>
              <a:t>Configurar estado React para que al expandir una categoría (ej. 'Faciales') se colapsen automáticamente las demás, manteniendo la página corta.</a:t>
            </a:r>
            <a:br/>
            <a:br/>
            <a:r>
              <a:t>• Barra de Navegación Pegajosa (Sticky CTA):</a:t>
            </a:r>
            <a:br/>
            <a:r>
              <a:t>Incorporar un botón discreto pero siempre visible de 'Reservar Cita' que reduce la dependencia del scroll manual.</a:t>
            </a:r>
            <a:br/>
            <a:br/>
            <a:r>
              <a:t>• Impacto esperado:</a:t>
            </a:r>
            <a:br/>
            <a:r>
              <a:t>Reducción de un 60% en la longitud de página y navegación fluida.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7C3AED"/>
                </a:solidFill>
              </a:defRPr>
            </a:pPr>
            <a:r>
              <a:t>Solución 2: Accesibilidad WCAG y Formularios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Etiquetas Visibles Permanentes:</a:t>
            </a:r>
            <a:br/>
            <a:r>
              <a:t>Sustituir placeholders efímeros por etiquetas superiores claras con atributos 'htmlFor/id'.</a:t>
            </a:r>
            <a:br/>
            <a:br/>
            <a:r>
              <a:t>• Ajuste de Contraste Cromático:</a:t>
            </a:r>
            <a:br/>
            <a:r>
              <a:t>Oscurecer la paleta tipográfica secundaria a tonos slate (#475569) garantizando una relación de 5.2:1 (superior a 4.5:1).</a:t>
            </a:r>
            <a:br/>
            <a:br/>
            <a:r>
              <a:t>• Feedback Dinámico:</a:t>
            </a:r>
            <a:br/>
            <a:r>
              <a:t>Validaciones en tiempo real con mensajes de error descriptivos y bordes de estado claros.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Solución 3: Optimización Técnica y Mapas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Lazy Loading de Mapas:</a:t>
            </a:r>
            <a:br/>
            <a:r>
              <a:t>Cargar el iframe de Google Maps únicamente cuando el usuario hace clic en la pestaña de la sucursal o al entrar al viewport.</a:t>
            </a:r>
            <a:br/>
            <a:br/>
            <a:r>
              <a:t>• Unificación de Botones Flotantes:</a:t>
            </a:r>
            <a:br/>
            <a:r>
              <a:t>Agrupar los 5 botones móviles en un único botón flotante con menú desplegable (Speed Dial).</a:t>
            </a:r>
            <a:br/>
            <a:br/>
            <a:r>
              <a:t>• Impacto esperado:</a:t>
            </a:r>
            <a:br/>
            <a:r>
              <a:t>Mejora de la puntuación Lighthouse a &gt;92 y eliminación de clics accidentales.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Priorización y Plan de Implementación de Mejoras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Matriz de Esfuerzo vs. Impacto en Usabilidad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B2777"/>
                </a:solidFill>
              </a:rPr>
              <a:t>▶ Fase 1 (Inmediata - Alto Impacto / Bajo Esfuerzo):
</a:t>
            </a:r>
            <a:r>
              <a:rPr sz="1150">
                <a:solidFill>
                  <a:srgbClr val="64748B"/>
                </a:solidFill>
              </a:rPr>
              <a:t>Ajustar contrastes CSS de textos y añadir etiquetas &lt;label&gt; accesibles a todos los campos del formulario de reserva. Corrige inmediatamente las alertas críticas de WAVE y Lighthouse.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B2777"/>
                </a:solidFill>
              </a:rPr>
              <a:t>▶ Fase 2 (Corto Plazo - Alto Impacto / Medio Esfuerzo):
</a:t>
            </a:r>
            <a:r>
              <a:rPr sz="1150">
                <a:solidFill>
                  <a:srgbClr val="64748B"/>
                </a:solidFill>
              </a:rPr>
              <a:t>Modificar el estado del componente Accordion en React para que funcione en modo exclusivo (single-panel open) e implementar el Speed Dial de botones móviles.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B2777"/>
                </a:solidFill>
              </a:rPr>
              <a:t>▶ Fase 3 (Medio Plazo - Medio Impacto / Medio Esfuerzo):
</a:t>
            </a:r>
            <a:r>
              <a:rPr sz="1150">
                <a:solidFill>
                  <a:srgbClr val="64748B"/>
                </a:solidFill>
              </a:rPr>
              <a:t>Implementar carga diferida (lazy load) en los iframes de Google Maps de las sucursales, reduciendo el peso inicial de transferencia de red en más de 1.8 MB.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B2777"/>
                </a:solidFill>
              </a:rPr>
              <a:t>▶ Fase 4 (Validación Continua):
</a:t>
            </a:r>
            <a:r>
              <a:rPr sz="1150">
                <a:solidFill>
                  <a:srgbClr val="64748B"/>
                </a:solidFill>
              </a:rPr>
              <a:t>Re-ejecutar auditorías con Hotjar y Lighthouse durante 14 días para verificar la reducción del rebote y el aumento en el porcentaje de envío de reservas.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B2777"/>
                </a:solidFill>
                <a:latin typeface="Calibri"/>
              </a:defRPr>
            </a:pPr>
            <a:r>
              <a:t>TRABAJO AUTÓNOMO • EVALUACIÓN DE USABILIDAD CON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Conclusiones Académicas del Estudio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B2777"/>
                </a:solidFill>
              </a:defRPr>
            </a:pPr>
            <a:r>
              <a:t>Complementariedad de Herramientas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La combinación de analítica visual cualitativa (Hotjar) con auditoría automatizada cuantitativa (Lighthouse/WAVE) ofrece una visión 360° imposible de obtener con un solo método.</a:t>
            </a:r>
            <a:br/>
            <a:br/>
            <a:r>
              <a:t>Hotjar descubrió dónde se pierden los usuarios y Lighthouse explicó por qué el sistema responde con lentitud.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C3AED"/>
                </a:solidFill>
              </a:defRPr>
            </a:pPr>
            <a:r>
              <a:t>Prioridad de la Simplicidad Frontend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En un sitio comercial, la estética visual atractiva no compensa una navegación excesivamente larga o desordenada.</a:t>
            </a:r>
            <a:br/>
            <a:br/>
            <a:r>
              <a:t>Optimizar el embudo hacia el formulario de reserva es la intervención de mayor retorno tanto para la satisfacción del usuario como para el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Accesibilidad como Pilar de Usabilidad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El cumplimiento de contrastes y etiquetas semánticas WCAG 2.1 no solo beneficia a usuarios con discapacidad, sino que mejora la experiencia general de todos los clientes en dispositivos móviles bajo condiciones de luz reales.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DB2777"/>
                </a:solidFill>
              </a:defRPr>
            </a:pPr>
            <a:r>
              <a:t>REFERENCIAS BIBLIOGRÁFICAS (NORMAS APA 7)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Google Developers. (2024). Lighthouse: Overview and Core Web Vitals audit automation. https://developer.chrome.com/docs/lighthouse/overview/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Hotjar Ltd. (2024). Understanding heatmaps, scroll depth, and user interaction analytics. Hotjar Guides. https://www.hotjar.com/heatmaps/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Nielsen, J. (1994). 10 usability heuristics for user interface design. Nielsen Norman Group. https://www.nngroup.com/articles/ten-usability-heuristics/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Norman, D. A. (2013). The design of everyday things: Revised and expanded edition. Basic Books.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Web Accessibility Initiative [WAI]. (2023). Web Content Accessibility Guidelines (WCAG) 2.1 overview. World Wide Web Consortium. https://www.w3.org/WAI/standards-guidelines/wcag/</a:t>
            </a:r>
          </a:p>
          <a:p>
            <a:br/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¡MUCHAS GRACIAS POR SU ATENCIÓN!</a:t>
            </a:r>
          </a:p>
          <a:p>
            <a:pPr algn="ctr">
              <a:defRPr sz="1200">
                <a:solidFill>
                  <a:srgbClr val="DB2777"/>
                </a:solidFill>
              </a:defRPr>
            </a:pPr>
            <a:r>
              <a:t>¿Preguntas o Comentarios?  |  Trabajo Autónomo: Usabilidad y Accesibilidad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