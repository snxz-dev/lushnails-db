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Portal Empresarial y Corporativo</a:t>
            </a:r>
          </a:p>
          <a:p>
            <a:r>
              <a:t>Lush Nails Spa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Integración de procesos, gestión operativa y toma de decisiones estratégicas.</a:t>
            </a:r>
          </a:p>
          <a:p>
            <a:r>
              <a:t>Asignatura: Desarrollo de Portales Empresariales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¿Qué es el Portal Empresarial Lush Nails?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4114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/>
            </a:pPr>
            <a:r>
              <a:t>Es una plataforma integral diseñada para centralizar la operación de un spa de belleza.</a:t>
            </a:r>
          </a:p>
          <a:p>
            <a:pPr>
              <a:defRPr sz="2000"/>
            </a:pPr>
            <a:r>
              <a:t>El Problema:</a:t>
            </a:r>
          </a:p>
          <a:p>
            <a:pPr lvl="1">
              <a:defRPr sz="2000"/>
            </a:pPr>
            <a:r>
              <a:t>La fragmentación de la información (citas en papel, descontrol de ingresos).</a:t>
            </a:r>
          </a:p>
          <a:p>
            <a:pPr>
              <a:defRPr sz="2000"/>
            </a:pPr>
            <a:r>
              <a:t>La Solución:</a:t>
            </a:r>
          </a:p>
          <a:p>
            <a:pPr lvl="1">
              <a:defRPr sz="2000"/>
            </a:pPr>
            <a:r>
              <a:t>Unifica la experiencia del cliente (portal público) con el control corporativo (intranet).</a:t>
            </a:r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371600"/>
            <a:ext cx="411480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Arquitectura del Portal Corporativo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4114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/>
            </a:pPr>
            <a:r>
              <a:t>Capa de Datos:</a:t>
            </a:r>
          </a:p>
          <a:p>
            <a:pPr lvl="1">
              <a:defRPr sz="2000"/>
            </a:pPr>
            <a:r>
              <a:t>PostgreSQL 16 (Garantiza integridad corporativa).</a:t>
            </a:r>
          </a:p>
          <a:p>
            <a:pPr>
              <a:defRPr sz="2000"/>
            </a:pPr>
            <a:r>
              <a:t>Intranet (Backend):</a:t>
            </a:r>
          </a:p>
          <a:p>
            <a:pPr lvl="1">
              <a:defRPr sz="2000"/>
            </a:pPr>
            <a:r>
              <a:t>Node.js + Express. Acceso exclusivo para empleados.</a:t>
            </a:r>
          </a:p>
          <a:p>
            <a:pPr>
              <a:defRPr sz="2000"/>
            </a:pPr>
            <a:r>
              <a:t>Portal Público (SPA):</a:t>
            </a:r>
          </a:p>
          <a:p>
            <a:pPr lvl="1">
              <a:defRPr sz="2000"/>
            </a:pPr>
            <a:r>
              <a:t>React 19. Interfaz moderna y fluida para clientes.</a:t>
            </a:r>
          </a:p>
          <a:p>
            <a:pPr>
              <a:defRPr sz="2000"/>
            </a:pPr>
            <a:r>
              <a:t>Infraestructura:</a:t>
            </a:r>
          </a:p>
          <a:p>
            <a:pPr lvl="1">
              <a:defRPr sz="2000"/>
            </a:pPr>
            <a:r>
              <a:t>Despliegue estandarizado mediante Docker.</a:t>
            </a:r>
          </a:p>
        </p:txBody>
      </p:sp>
      <p:pic>
        <p:nvPicPr>
          <p:cNvPr id="4" name="Picture 3" descr="architecture_diagram_178953282516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371600"/>
            <a:ext cx="411480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Modelo de Datos e Integridad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4114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/>
            </a:pPr>
            <a:r>
              <a:t>La base de datos es el núcleo del portal empresarial.</a:t>
            </a:r>
          </a:p>
          <a:p>
            <a:pPr>
              <a:defRPr sz="2000"/>
            </a:pPr>
            <a:r>
              <a:t>19 Tablas Relacionales:</a:t>
            </a:r>
          </a:p>
          <a:p>
            <a:pPr lvl="1">
              <a:defRPr sz="2000"/>
            </a:pPr>
            <a:r>
              <a:t>Manejando catálogos, operaciones y configuración.</a:t>
            </a:r>
          </a:p>
          <a:p>
            <a:pPr>
              <a:defRPr sz="2000"/>
            </a:pPr>
            <a:r>
              <a:t>Relaciones clave:</a:t>
            </a:r>
          </a:p>
          <a:p>
            <a:pPr lvl="1">
              <a:defRPr sz="2000"/>
            </a:pPr>
            <a:r>
              <a:t>Sucursales -&gt; Empleados -&gt; Citas -&gt; Servicios Realizados.</a:t>
            </a:r>
          </a:p>
        </p:txBody>
      </p:sp>
      <p:pic>
        <p:nvPicPr>
          <p:cNvPr id="4" name="Picture 3" descr="Diagrama_Relacional_B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371600"/>
            <a:ext cx="4114800" cy="2200659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Gestión de Usuarios y Seguridad (RBAC)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Control de Acceso Basado en Roles.</a:t>
            </a:r>
          </a:p>
          <a:p>
            <a:pPr>
              <a:defRPr sz="2000"/>
            </a:pPr>
            <a:r>
              <a:t>6 Perfiles Corporativos:</a:t>
            </a:r>
          </a:p>
          <a:p>
            <a:pPr lvl="1">
              <a:defRPr sz="2000"/>
            </a:pPr>
            <a:r>
              <a:t>Superadmin / Admin: Control operativo y financiero.</a:t>
            </a:r>
          </a:p>
          <a:p>
            <a:pPr lvl="1">
              <a:defRPr sz="2000"/>
            </a:pPr>
            <a:r>
              <a:t>Recepcionista: Gestión diaria de citas y clientes.</a:t>
            </a:r>
          </a:p>
          <a:p>
            <a:pPr lvl="1">
              <a:defRPr sz="2000"/>
            </a:pPr>
            <a:r>
              <a:t>RRHH: Empleados, horarios y postulaciones.</a:t>
            </a:r>
          </a:p>
          <a:p>
            <a:pPr lvl="1">
              <a:defRPr sz="2000"/>
            </a:pPr>
            <a:r>
              <a:t>Gerencia / Contabilidad: Inteligencia de negocios.</a:t>
            </a:r>
          </a:p>
          <a:p>
            <a:pPr>
              <a:defRPr sz="2000"/>
            </a:pPr>
            <a:r>
              <a:t>Beneficio:</a:t>
            </a:r>
          </a:p>
          <a:p>
            <a:pPr lvl="1">
              <a:defRPr sz="2000"/>
            </a:pPr>
            <a:r>
              <a:t>Protege los datos sensibles de la empresa.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Alineación con Procesos de Negocio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Automatización de reglas corporativas (BPMN).</a:t>
            </a:r>
          </a:p>
          <a:p>
            <a:pPr>
              <a:defRPr sz="2000"/>
            </a:pPr>
            <a:r>
              <a:t>Agendamiento:</a:t>
            </a:r>
          </a:p>
          <a:p>
            <a:pPr lvl="1">
              <a:defRPr sz="2000"/>
            </a:pPr>
            <a:r>
              <a:t>Valida disponibilidad cruzada (sucursales, servicios, horarios).</a:t>
            </a:r>
          </a:p>
          <a:p>
            <a:pPr>
              <a:defRPr sz="2000"/>
            </a:pPr>
            <a:r>
              <a:t>Recursos Humanos:</a:t>
            </a:r>
          </a:p>
          <a:p>
            <a:pPr lvl="1">
              <a:defRPr sz="2000"/>
            </a:pPr>
            <a:r>
              <a:t>Módulo automatizado de captación de talento.</a:t>
            </a:r>
          </a:p>
          <a:p>
            <a:pPr>
              <a:defRPr sz="2000"/>
            </a:pPr>
            <a:r>
              <a:t>Historial de Atención:</a:t>
            </a:r>
          </a:p>
          <a:p>
            <a:pPr lvl="1">
              <a:defRPr sz="2000"/>
            </a:pPr>
            <a:r>
              <a:t>Registro detallado para métricas y facturación.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Inteligencia de Negocios y Decisiones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4114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/>
            </a:pPr>
            <a:r>
              <a:t>El sistema transforma la operación en datos gerenciales.</a:t>
            </a:r>
          </a:p>
          <a:p>
            <a:pPr>
              <a:defRPr sz="2000"/>
            </a:pPr>
            <a:r>
              <a:t>Balanced Scorecard y Tablero de Comando:</a:t>
            </a:r>
          </a:p>
          <a:p>
            <a:pPr lvl="1">
              <a:defRPr sz="2000"/>
            </a:pPr>
            <a:r>
              <a:t>Monitoreo en tiempo real de ingresos mensuales.</a:t>
            </a:r>
          </a:p>
          <a:p>
            <a:pPr lvl="1">
              <a:defRPr sz="2000"/>
            </a:pPr>
            <a:r>
              <a:t>Rentabilidad por servicio.</a:t>
            </a:r>
          </a:p>
          <a:p>
            <a:pPr lvl="1">
              <a:defRPr sz="2000"/>
            </a:pPr>
            <a:r>
              <a:t>Ticket promedio.</a:t>
            </a:r>
          </a:p>
          <a:p>
            <a:pPr lvl="1">
              <a:defRPr sz="2000"/>
            </a:pPr>
            <a:r>
              <a:t>Rendimiento de sucursales.</a:t>
            </a:r>
          </a:p>
        </p:txBody>
      </p:sp>
      <p:pic>
        <p:nvPicPr>
          <p:cNvPr id="4" name="Picture 3" descr="dashboard_ui_178953284235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371600"/>
            <a:ext cx="411480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Conclusión: El Valor del Portal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¿Por qué es un caso de éxito?</a:t>
            </a:r>
          </a:p>
          <a:p>
            <a:pPr>
              <a:defRPr sz="2000"/>
            </a:pPr>
            <a:r>
              <a:t>Centralización:</a:t>
            </a:r>
          </a:p>
          <a:p>
            <a:pPr lvl="1">
              <a:defRPr sz="2000"/>
            </a:pPr>
            <a:r>
              <a:t>Une a todos los actores en un ecosistema digital.</a:t>
            </a:r>
          </a:p>
          <a:p>
            <a:pPr>
              <a:defRPr sz="2000"/>
            </a:pPr>
            <a:r>
              <a:t>Seguridad Total:</a:t>
            </a:r>
          </a:p>
          <a:p>
            <a:pPr lvl="1">
              <a:defRPr sz="2000"/>
            </a:pPr>
            <a:r>
              <a:t>Arquitectura de roles y permisos (RBAC).</a:t>
            </a:r>
          </a:p>
          <a:p>
            <a:pPr>
              <a:defRPr sz="2000"/>
            </a:pPr>
            <a:r>
              <a:t>Valor Estratégico:</a:t>
            </a:r>
          </a:p>
          <a:p>
            <a:pPr lvl="1">
              <a:defRPr sz="2000"/>
            </a:pPr>
            <a:r>
              <a:t>Transforma datos operativos en indicadores (BSC).</a:t>
            </a:r>
          </a:p>
          <a:p>
            <a:pPr>
              <a:defRPr sz="2000"/>
            </a:pPr>
            <a:r>
              <a:t>Crecimiento Escalable:</a:t>
            </a:r>
          </a:p>
          <a:p>
            <a:pPr lvl="1">
              <a:defRPr sz="2000"/>
            </a:pPr>
            <a:r>
              <a:t>Diseño modular que permite expansión rápida.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